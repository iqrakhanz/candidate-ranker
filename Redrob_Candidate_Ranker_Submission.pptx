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5143500" cx="9144000"/>
  <p:notesSz cx="6858000" cy="9144000"/>
  <p:embeddedFontLst>
    <p:embeddedFont>
      <p:font typeface="Manrope SemiBold"/>
      <p:regular r:id="rId17"/>
      <p:bold r:id="rId18"/>
    </p:embeddedFont>
    <p:embeddedFont>
      <p:font typeface="Manrope ExtraBold"/>
      <p:bold r:id="rId1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font" Target="fonts/ManropeSemiBold-regular.fntdata"/><Relationship Id="rId18" Type="http://schemas.openxmlformats.org/officeDocument/2006/relationships/font" Target="fonts/ManropeSemiBold-bold.fntdata"/><Relationship Id="rId19" Type="http://schemas.openxmlformats.org/officeDocument/2006/relationships/font" Target="fonts/ManropeExtraBold-bold.fnt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e5dd6731f7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3e5dd6731f7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e5dd6731f7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e5dd6731f7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e5dd6731f7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3e5dd6731f7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e5dd6731f7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3e5dd6731f7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e5dd6731f7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e5dd6731f7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e5dd6731f7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3e5dd6731f7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e5dd6731f7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3e5dd6731f7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e5dd6731f7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e5dd6731f7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e5dd6731f7_0_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3e5dd6731f7_0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e5dd6731f7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e5dd6731f7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 title="background redrob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490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13"/>
          <p:cNvSpPr txBox="1"/>
          <p:nvPr/>
        </p:nvSpPr>
        <p:spPr>
          <a:xfrm>
            <a:off x="311705" y="3916185"/>
            <a:ext cx="8520600" cy="40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marL="0" rtl="0" algn="l">
              <a:lnSpc>
                <a:spcPct val="70000"/>
              </a:lnSpc>
              <a:spcBef>
                <a:spcPts val="0"/>
              </a:spcBef>
              <a:spcAft>
                <a:spcPts val="300"/>
              </a:spcAft>
              <a:buNone/>
              <a:defRPr sz="1200" b="1">
                <a:solidFill>
                  <a:srgbClr val="202729"/>
                </a:solidFill>
                <a:latin typeface="Manrope SemiBold"/>
              </a:defRPr>
            </a:pPr>
            <a:r>
              <a:t>Problem Statement : Build a CPU-only, fully offline Candidate Discovery &amp; Ranking engine that filters out fraudulent profiles (honeypots) and ranks the top 100 candidates from a 100,000-profile candidate pool against a Senior AI Engineer JD in under 5 minutes with &lt;=16GB RAM.</a:t>
            </a:r>
            <a:endParaRPr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Google Shape;62;p14" title="overlay redrob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3997" cy="5143490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14"/>
          <p:cNvSpPr txBox="1"/>
          <p:nvPr/>
        </p:nvSpPr>
        <p:spPr>
          <a:xfrm>
            <a:off x="480500" y="812600"/>
            <a:ext cx="2403000" cy="4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935"/>
              <a:buNone/>
            </a:pPr>
            <a:r>
              <a:rPr lang="en-GB">
                <a:solidFill>
                  <a:srgbClr val="202729"/>
                </a:solidFill>
                <a:latin typeface="Manrope ExtraBold"/>
                <a:ea typeface="Manrope ExtraBold"/>
                <a:cs typeface="Manrope ExtraBold"/>
                <a:sym typeface="Manrope ExtraBold"/>
              </a:rPr>
              <a:t>Solution Overview</a:t>
            </a:r>
            <a:endParaRPr>
              <a:solidFill>
                <a:srgbClr val="202729"/>
              </a:solidFill>
              <a:latin typeface="Manrope ExtraBold"/>
              <a:ea typeface="Manrope ExtraBold"/>
              <a:cs typeface="Manrope ExtraBold"/>
              <a:sym typeface="Manrope ExtraBold"/>
            </a:endParaRPr>
          </a:p>
        </p:txBody>
      </p:sp>
      <p:sp>
        <p:nvSpPr>
          <p:cNvPr id="64" name="Google Shape;64;p14"/>
          <p:cNvSpPr txBox="1"/>
          <p:nvPr/>
        </p:nvSpPr>
        <p:spPr>
          <a:xfrm>
            <a:off x="375600" y="1278512"/>
            <a:ext cx="8520600" cy="325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5278" marL="457200" rtl="0" algn="l">
              <a:lnSpc>
                <a:spcPct val="150000"/>
              </a:lnSpc>
              <a:spcBef>
                <a:spcPts val="400"/>
              </a:spcBef>
              <a:spcAft>
                <a:spcPts val="300"/>
              </a:spcAft>
              <a:buClr>
                <a:srgbClr val="7D45E0"/>
              </a:buClr>
              <a:buSzPts val="1365"/>
              <a:buFont typeface="Manrope SemiBold"/>
              <a:buChar char="●"/>
              <a:defRPr sz="1100" b="1">
                <a:solidFill>
                  <a:srgbClr val="0F172A"/>
                </a:solidFill>
                <a:latin typeface="Manrope ExtraBold"/>
              </a:defRPr>
            </a:pPr>
            <a:r>
              <a:t>What is your proposed solution?</a:t>
            </a:r>
            <a:endParaRPr sz="1365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  <a:p>
            <a:pPr>
              <a:spcBef>
                <a:spcPts val="0"/>
              </a:spcBef>
              <a:spcAft>
                <a:spcPts val="300"/>
              </a:spcAft>
              <a:defRPr sz="950" b="0">
                <a:solidFill>
                  <a:srgbClr val="475569"/>
                </a:solidFill>
                <a:latin typeface="Manrope SemiBold"/>
              </a:defRPr>
            </a:pPr>
            <a:r>
              <a:t>• We built an offline, multi-threaded candidate screening pipeline in native Python. It streams candidate records line-by-line using a memory-efficient generator, filters out fraudulent submissions through automated honeypot rules, and ranks candidates using a multi-dimensional composite scoring model.</a:t>
            </a:r>
          </a:p>
          <a:p>
            <a:pPr>
              <a:spcBef>
                <a:spcPts val="600"/>
              </a:spcBef>
              <a:spcAft>
                <a:spcPts val="300"/>
              </a:spcAft>
              <a:defRPr sz="1100" b="1">
                <a:solidFill>
                  <a:srgbClr val="0F172A"/>
                </a:solidFill>
                <a:latin typeface="Manrope ExtraBold"/>
              </a:defRPr>
            </a:pPr>
            <a:r>
              <a:t>What differentiates your approach from traditional candidate matching systems?</a:t>
            </a:r>
          </a:p>
          <a:p>
            <a:pPr>
              <a:spcBef>
                <a:spcPts val="0"/>
              </a:spcBef>
              <a:spcAft>
                <a:spcPts val="300"/>
              </a:spcAft>
              <a:defRPr sz="950" b="0">
                <a:solidFill>
                  <a:srgbClr val="475569"/>
                </a:solidFill>
                <a:latin typeface="Manrope SemiBold"/>
              </a:defRPr>
            </a:pPr>
            <a:r>
              <a:t>• Deterministic Fraud Filtering: Identifies timeline inconsistencies, expert claims with zero experience, and experience duration inflation to reject fraudulent resumes immediately.</a:t>
            </a:r>
          </a:p>
          <a:p>
            <a:pPr>
              <a:spcBef>
                <a:spcPts val="0"/>
              </a:spcBef>
              <a:spcAft>
                <a:spcPts val="300"/>
              </a:spcAft>
              <a:defRPr sz="950" b="0">
                <a:solidFill>
                  <a:srgbClr val="475569"/>
                </a:solidFill>
                <a:latin typeface="Manrope SemiBold"/>
              </a:defRPr>
            </a:pPr>
            <a:r>
              <a:t>• Contextual Semantic Parsing: Evaluates action-oriented phrases (e.g., 'built dense retrieval' vs just mentioning 'milvus') weighted by recency, rather than counting simple keyword density.</a:t>
            </a:r>
          </a:p>
          <a:p>
            <a:pPr>
              <a:spcBef>
                <a:spcPts val="0"/>
              </a:spcBef>
              <a:spcAft>
                <a:spcPts val="300"/>
              </a:spcAft>
              <a:defRPr sz="950" b="0">
                <a:solidFill>
                  <a:srgbClr val="475569"/>
                </a:solidFill>
                <a:latin typeface="Manrope SemiBold"/>
              </a:defRPr>
            </a:pPr>
            <a:r>
              <a:t>• Dynamic Behavioral Coefficient: Factors in candidate response rate, assessment performance, and notice period to prioritize active candidates for recruiter outreach.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Google Shape;69;p15" title="overlay redrob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2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15"/>
          <p:cNvSpPr txBox="1"/>
          <p:nvPr/>
        </p:nvSpPr>
        <p:spPr>
          <a:xfrm>
            <a:off x="480500" y="812600"/>
            <a:ext cx="8121600" cy="4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Pts val="935"/>
              <a:buFont typeface="Arial"/>
              <a:buNone/>
            </a:pPr>
            <a:r>
              <a:rPr lang="en-GB">
                <a:solidFill>
                  <a:srgbClr val="202729"/>
                </a:solidFill>
                <a:latin typeface="Manrope ExtraBold"/>
                <a:ea typeface="Manrope ExtraBold"/>
                <a:cs typeface="Manrope ExtraBold"/>
                <a:sym typeface="Manrope ExtraBold"/>
              </a:rPr>
              <a:t>JD Understanding &amp; Candidate Evaluatio</a:t>
            </a:r>
            <a:r>
              <a:rPr lang="en-GB">
                <a:solidFill>
                  <a:srgbClr val="202729"/>
                </a:solidFill>
                <a:latin typeface="Manrope ExtraBold"/>
                <a:ea typeface="Manrope ExtraBold"/>
                <a:cs typeface="Manrope ExtraBold"/>
                <a:sym typeface="Manrope ExtraBold"/>
              </a:rPr>
              <a:t>n</a:t>
            </a:r>
            <a:endParaRPr>
              <a:solidFill>
                <a:srgbClr val="202729"/>
              </a:solidFill>
              <a:latin typeface="Manrope ExtraBold"/>
              <a:ea typeface="Manrope ExtraBold"/>
              <a:cs typeface="Manrope ExtraBold"/>
              <a:sym typeface="Manrope ExtraBold"/>
            </a:endParaRPr>
          </a:p>
        </p:txBody>
      </p:sp>
      <p:sp>
        <p:nvSpPr>
          <p:cNvPr id="71" name="Google Shape;71;p15"/>
          <p:cNvSpPr txBox="1"/>
          <p:nvPr/>
        </p:nvSpPr>
        <p:spPr>
          <a:xfrm>
            <a:off x="375600" y="1278496"/>
            <a:ext cx="8520600" cy="319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5278" marL="457200" rtl="0" algn="l">
              <a:lnSpc>
                <a:spcPct val="150000"/>
              </a:lnSpc>
              <a:spcBef>
                <a:spcPts val="400"/>
              </a:spcBef>
              <a:spcAft>
                <a:spcPts val="300"/>
              </a:spcAft>
              <a:buClr>
                <a:srgbClr val="7D45E0"/>
              </a:buClr>
              <a:buSzPts val="1365"/>
              <a:buFont typeface="Manrope SemiBold"/>
              <a:buChar char="●"/>
              <a:defRPr sz="1100" b="1">
                <a:solidFill>
                  <a:srgbClr val="0F172A"/>
                </a:solidFill>
                <a:latin typeface="Manrope ExtraBold"/>
              </a:defRPr>
            </a:pPr>
            <a:r>
              <a:t>What are the key requirements extracted from the JD?</a:t>
            </a:r>
            <a:endParaRPr sz="1365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  <a:p>
            <a:pPr>
              <a:spcBef>
                <a:spcPts val="0"/>
              </a:spcBef>
              <a:spcAft>
                <a:spcPts val="300"/>
              </a:spcAft>
              <a:defRPr sz="950" b="0">
                <a:solidFill>
                  <a:srgbClr val="475569"/>
                </a:solidFill>
                <a:latin typeface="Manrope SemiBold"/>
              </a:defRPr>
            </a:pPr>
            <a:r>
              <a:t>• Role &amp; Level: Senior AI Engineer (5-9 years YoE) to own the ranking and retrieval layers.</a:t>
            </a:r>
          </a:p>
          <a:p>
            <a:pPr>
              <a:spcBef>
                <a:spcPts val="0"/>
              </a:spcBef>
              <a:spcAft>
                <a:spcPts val="300"/>
              </a:spcAft>
              <a:defRPr sz="950" b="0">
                <a:solidFill>
                  <a:srgbClr val="475569"/>
                </a:solidFill>
                <a:latin typeface="Manrope SemiBold"/>
              </a:defRPr>
            </a:pPr>
            <a:r>
              <a:t>• Key Mandates: Production experience with dense/hybrid embeddings, vector databases (Pinecone, Milvus, Qdrant), retrieval evaluation metrics (NDCG, MAP, MRR), and system-level Python engineering.</a:t>
            </a:r>
          </a:p>
          <a:p>
            <a:pPr>
              <a:spcBef>
                <a:spcPts val="600"/>
              </a:spcBef>
              <a:spcAft>
                <a:spcPts val="300"/>
              </a:spcAft>
              <a:defRPr sz="1100" b="1">
                <a:solidFill>
                  <a:srgbClr val="0F172A"/>
                </a:solidFill>
                <a:latin typeface="Manrope ExtraBold"/>
              </a:defRPr>
            </a:pPr>
            <a:r>
              <a:t>Which candidate signals are most important for determining relevance? / How does your solution evaluate candidate fit beyond keyword matching?</a:t>
            </a:r>
          </a:p>
          <a:p>
            <a:pPr>
              <a:spcBef>
                <a:spcPts val="0"/>
              </a:spcBef>
              <a:spcAft>
                <a:spcPts val="300"/>
              </a:spcAft>
              <a:defRPr sz="950" b="0">
                <a:solidFill>
                  <a:srgbClr val="475569"/>
                </a:solidFill>
                <a:latin typeface="Manrope SemiBold"/>
              </a:defRPr>
            </a:pPr>
            <a:r>
              <a:t>• Multidimensional Scoring: Evaluates Skills Substance (35%), Career Trajectory (30%), Overall Experience (15%), Location (10%), and CS Education (10%).</a:t>
            </a:r>
          </a:p>
          <a:p>
            <a:pPr>
              <a:spcBef>
                <a:spcPts val="0"/>
              </a:spcBef>
              <a:spcAft>
                <a:spcPts val="300"/>
              </a:spcAft>
              <a:defRPr sz="950" b="0">
                <a:solidFill>
                  <a:srgbClr val="475569"/>
                </a:solidFill>
                <a:latin typeface="Manrope SemiBold"/>
              </a:defRPr>
            </a:pPr>
            <a:r>
              <a:t>• Beyond Keywords: Checks descriptions using pre-compiled regular expressions for active achievement phrases. Penalizes job-hopping stability patterns and filters out IT services consulting shops to focus on product builders.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Google Shape;76;p16" title="overlay redrob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3" cy="5143490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16"/>
          <p:cNvSpPr txBox="1"/>
          <p:nvPr/>
        </p:nvSpPr>
        <p:spPr>
          <a:xfrm>
            <a:off x="480500" y="812600"/>
            <a:ext cx="8121600" cy="4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935"/>
              <a:buNone/>
            </a:pPr>
            <a:r>
              <a:rPr lang="en-GB">
                <a:solidFill>
                  <a:srgbClr val="202729"/>
                </a:solidFill>
                <a:latin typeface="Manrope ExtraBold"/>
                <a:ea typeface="Manrope ExtraBold"/>
                <a:cs typeface="Manrope ExtraBold"/>
                <a:sym typeface="Manrope ExtraBold"/>
              </a:rPr>
              <a:t>Ranking Methodology</a:t>
            </a:r>
            <a:endParaRPr>
              <a:solidFill>
                <a:srgbClr val="202729"/>
              </a:solidFill>
              <a:latin typeface="Manrope ExtraBold"/>
              <a:ea typeface="Manrope ExtraBold"/>
              <a:cs typeface="Manrope ExtraBold"/>
              <a:sym typeface="Manrope ExtraBold"/>
            </a:endParaRPr>
          </a:p>
        </p:txBody>
      </p:sp>
      <p:sp>
        <p:nvSpPr>
          <p:cNvPr id="78" name="Google Shape;78;p16"/>
          <p:cNvSpPr txBox="1"/>
          <p:nvPr/>
        </p:nvSpPr>
        <p:spPr>
          <a:xfrm>
            <a:off x="375600" y="1278496"/>
            <a:ext cx="8520600" cy="319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5278" marL="457200" rtl="0" algn="l">
              <a:lnSpc>
                <a:spcPct val="150000"/>
              </a:lnSpc>
              <a:spcBef>
                <a:spcPts val="400"/>
              </a:spcBef>
              <a:spcAft>
                <a:spcPts val="300"/>
              </a:spcAft>
              <a:buClr>
                <a:srgbClr val="7D45E0"/>
              </a:buClr>
              <a:buSzPts val="1365"/>
              <a:buFont typeface="Manrope SemiBold"/>
              <a:buChar char="●"/>
              <a:defRPr sz="1100" b="1">
                <a:solidFill>
                  <a:srgbClr val="0F172A"/>
                </a:solidFill>
                <a:latin typeface="Manrope ExtraBold"/>
              </a:defRPr>
            </a:pPr>
            <a:r>
              <a:t>How does your system retrieve, score, and rank candidates?</a:t>
            </a:r>
            <a:endParaRPr sz="1365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  <a:p>
            <a:pPr>
              <a:spcBef>
                <a:spcPts val="0"/>
              </a:spcBef>
              <a:spcAft>
                <a:spcPts val="300"/>
              </a:spcAft>
              <a:defRPr sz="950" b="0">
                <a:solidFill>
                  <a:srgbClr val="475569"/>
                </a:solidFill>
                <a:latin typeface="Manrope SemiBold"/>
              </a:defRPr>
            </a:pPr>
            <a:r>
              <a:t>• Streams JSONL records row-by-row using an generator to process the large dataset. Active candidates are distributed into parallel workers for multi-core scoring, and accumulated in a Min-Heap of size 100.</a:t>
            </a:r>
          </a:p>
          <a:p>
            <a:pPr>
              <a:spcBef>
                <a:spcPts val="600"/>
              </a:spcBef>
              <a:spcAft>
                <a:spcPts val="300"/>
              </a:spcAft>
              <a:defRPr sz="1100" b="1">
                <a:solidFill>
                  <a:srgbClr val="0F172A"/>
                </a:solidFill>
                <a:latin typeface="Manrope ExtraBold"/>
              </a:defRPr>
            </a:pPr>
            <a:r>
              <a:t>What models, algorithms, or heuristics are used?</a:t>
            </a:r>
          </a:p>
          <a:p>
            <a:pPr>
              <a:spcBef>
                <a:spcPts val="0"/>
              </a:spcBef>
              <a:spcAft>
                <a:spcPts val="300"/>
              </a:spcAft>
              <a:defRPr sz="950" b="0">
                <a:solidFill>
                  <a:srgbClr val="475569"/>
                </a:solidFill>
                <a:latin typeface="Manrope SemiBold"/>
              </a:defRPr>
            </a:pPr>
            <a:r>
              <a:t>• Rule-Based Feature Scorers: Individual modules compute normalized metrics [0, 1] for skills, tenure, titles, and education.</a:t>
            </a:r>
          </a:p>
          <a:p>
            <a:pPr>
              <a:spcBef>
                <a:spcPts val="0"/>
              </a:spcBef>
              <a:spcAft>
                <a:spcPts val="300"/>
              </a:spcAft>
              <a:defRPr sz="950" b="0">
                <a:solidFill>
                  <a:srgbClr val="475569"/>
                </a:solidFill>
                <a:latin typeface="Manrope SemiBold"/>
              </a:defRPr>
            </a:pPr>
            <a:r>
              <a:t>• Heap Selection &amp; Deterministic Tie-Breakers: Tracks top candidates dynamically. Equal scores are resolved in alphabetical ascending order of candidate ID.</a:t>
            </a:r>
          </a:p>
          <a:p>
            <a:pPr>
              <a:spcBef>
                <a:spcPts val="600"/>
              </a:spcBef>
              <a:spcAft>
                <a:spcPts val="300"/>
              </a:spcAft>
              <a:defRPr sz="1100" b="1">
                <a:solidFill>
                  <a:srgbClr val="0F172A"/>
                </a:solidFill>
                <a:latin typeface="Manrope ExtraBold"/>
              </a:defRPr>
            </a:pPr>
            <a:r>
              <a:t>How are multiple candidate signals combined into a final ranking?</a:t>
            </a:r>
          </a:p>
          <a:p>
            <a:pPr>
              <a:spcBef>
                <a:spcPts val="0"/>
              </a:spcBef>
              <a:spcAft>
                <a:spcPts val="300"/>
              </a:spcAft>
              <a:defRPr sz="950" b="0">
                <a:solidFill>
                  <a:srgbClr val="475569"/>
                </a:solidFill>
                <a:latin typeface="Manrope SemiBold"/>
              </a:defRPr>
            </a:pPr>
            <a:r>
              <a:t>• Blending Formula: Final Score = JD Match Score * Behavioral Engagement Multiplier.</a:t>
            </a:r>
          </a:p>
          <a:p>
            <a:pPr>
              <a:spcBef>
                <a:spcPts val="0"/>
              </a:spcBef>
              <a:spcAft>
                <a:spcPts val="300"/>
              </a:spcAft>
              <a:defRPr sz="950" b="0">
                <a:solidFill>
                  <a:srgbClr val="475569"/>
                </a:solidFill>
                <a:latin typeface="Manrope SemiBold"/>
              </a:defRPr>
            </a:pPr>
            <a:r>
              <a:t>• The behavioral multiplier [0.3, 1.0] scales candidate match based on notice periods, platform assessments, and active status.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" name="Google Shape;83;p17" title="overlay redrob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3" cy="5143490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17"/>
          <p:cNvSpPr txBox="1"/>
          <p:nvPr/>
        </p:nvSpPr>
        <p:spPr>
          <a:xfrm>
            <a:off x="480500" y="812600"/>
            <a:ext cx="8121600" cy="4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935"/>
              <a:buNone/>
            </a:pPr>
            <a:r>
              <a:rPr lang="en-GB">
                <a:solidFill>
                  <a:srgbClr val="202729"/>
                </a:solidFill>
                <a:latin typeface="Manrope ExtraBold"/>
                <a:ea typeface="Manrope ExtraBold"/>
                <a:cs typeface="Manrope ExtraBold"/>
                <a:sym typeface="Manrope ExtraBold"/>
              </a:rPr>
              <a:t>Explainability &amp; Data Validation</a:t>
            </a:r>
            <a:endParaRPr>
              <a:solidFill>
                <a:srgbClr val="202729"/>
              </a:solidFill>
              <a:latin typeface="Manrope ExtraBold"/>
              <a:ea typeface="Manrope ExtraBold"/>
              <a:cs typeface="Manrope ExtraBold"/>
              <a:sym typeface="Manrope ExtraBold"/>
            </a:endParaRPr>
          </a:p>
        </p:txBody>
      </p:sp>
      <p:sp>
        <p:nvSpPr>
          <p:cNvPr id="85" name="Google Shape;85;p17"/>
          <p:cNvSpPr txBox="1"/>
          <p:nvPr/>
        </p:nvSpPr>
        <p:spPr>
          <a:xfrm>
            <a:off x="375600" y="1278496"/>
            <a:ext cx="8520600" cy="319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5278" marL="457200" rtl="0" algn="l">
              <a:lnSpc>
                <a:spcPct val="150000"/>
              </a:lnSpc>
              <a:spcBef>
                <a:spcPts val="400"/>
              </a:spcBef>
              <a:spcAft>
                <a:spcPts val="300"/>
              </a:spcAft>
              <a:buClr>
                <a:srgbClr val="7D45E0"/>
              </a:buClr>
              <a:buSzPts val="1365"/>
              <a:buFont typeface="Manrope SemiBold"/>
              <a:buChar char="●"/>
              <a:defRPr sz="1100" b="1">
                <a:solidFill>
                  <a:srgbClr val="0F172A"/>
                </a:solidFill>
                <a:latin typeface="Manrope ExtraBold"/>
              </a:defRPr>
            </a:pPr>
            <a:r>
              <a:t>How are ranking decisions explained?</a:t>
            </a:r>
            <a:endParaRPr sz="1365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  <a:p>
            <a:pPr>
              <a:spcBef>
                <a:spcPts val="0"/>
              </a:spcBef>
              <a:spcAft>
                <a:spcPts val="300"/>
              </a:spcAft>
              <a:defRPr sz="950" b="0">
                <a:solidFill>
                  <a:srgbClr val="475569"/>
                </a:solidFill>
                <a:latin typeface="Manrope SemiBold"/>
              </a:defRPr>
            </a:pPr>
            <a:r>
              <a:t>• We compile a data-driven 1-2 sentence justification for each candidate detailing their exact work experience, primary skill alignment, and availability.</a:t>
            </a:r>
          </a:p>
          <a:p>
            <a:pPr>
              <a:spcBef>
                <a:spcPts val="600"/>
              </a:spcBef>
              <a:spcAft>
                <a:spcPts val="300"/>
              </a:spcAft>
              <a:defRPr sz="1100" b="1">
                <a:solidFill>
                  <a:srgbClr val="0F172A"/>
                </a:solidFill>
                <a:latin typeface="Manrope ExtraBold"/>
              </a:defRPr>
            </a:pPr>
            <a:r>
              <a:t>How do you prevent hallucinations or unsupported justifications?</a:t>
            </a:r>
          </a:p>
          <a:p>
            <a:pPr>
              <a:spcBef>
                <a:spcPts val="0"/>
              </a:spcBef>
              <a:spcAft>
                <a:spcPts val="300"/>
              </a:spcAft>
              <a:defRPr sz="950" b="0">
                <a:solidFill>
                  <a:srgbClr val="475569"/>
                </a:solidFill>
                <a:latin typeface="Manrope SemiBold"/>
              </a:defRPr>
            </a:pPr>
            <a:r>
              <a:t>• We bypass unstable and slow LLM calls, using a template rotation engine that maps verified profile data based on candidate rank tier. This ensures 100% factual accuracy.</a:t>
            </a:r>
          </a:p>
          <a:p>
            <a:pPr>
              <a:spcBef>
                <a:spcPts val="600"/>
              </a:spcBef>
              <a:spcAft>
                <a:spcPts val="300"/>
              </a:spcAft>
              <a:defRPr sz="1100" b="1">
                <a:solidFill>
                  <a:srgbClr val="0F172A"/>
                </a:solidFill>
                <a:latin typeface="Manrope ExtraBold"/>
              </a:defRPr>
            </a:pPr>
            <a:r>
              <a:t>How does your solution handle inconsistent, low-quality, or suspicious profiles?</a:t>
            </a:r>
          </a:p>
          <a:p>
            <a:pPr>
              <a:spcBef>
                <a:spcPts val="0"/>
              </a:spcBef>
              <a:spcAft>
                <a:spcPts val="300"/>
              </a:spcAft>
              <a:defRPr sz="950" b="0">
                <a:solidFill>
                  <a:srgbClr val="475569"/>
                </a:solidFill>
                <a:latin typeface="Manrope SemiBold"/>
              </a:defRPr>
            </a:pPr>
            <a:r>
              <a:t>• Honeypot Detector: Catches temporal impossibilities (e.g., job history starting prior to age 16), expert level in multiple skills with 0 months experience, experience inflation, and empty profiles claiming 100% completion.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18" title="overlay redrob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3" cy="5143490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8"/>
          <p:cNvSpPr txBox="1"/>
          <p:nvPr/>
        </p:nvSpPr>
        <p:spPr>
          <a:xfrm>
            <a:off x="480500" y="812600"/>
            <a:ext cx="8121600" cy="4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935"/>
              <a:buNone/>
            </a:pPr>
            <a:r>
              <a:rPr lang="en-GB">
                <a:solidFill>
                  <a:srgbClr val="202729"/>
                </a:solidFill>
                <a:latin typeface="Manrope ExtraBold"/>
                <a:ea typeface="Manrope ExtraBold"/>
                <a:cs typeface="Manrope ExtraBold"/>
                <a:sym typeface="Manrope ExtraBold"/>
              </a:rPr>
              <a:t>End-to-End Workflow</a:t>
            </a:r>
            <a:endParaRPr>
              <a:solidFill>
                <a:srgbClr val="202729"/>
              </a:solidFill>
              <a:latin typeface="Manrope ExtraBold"/>
              <a:ea typeface="Manrope ExtraBold"/>
              <a:cs typeface="Manrope ExtraBold"/>
              <a:sym typeface="Manrope ExtraBold"/>
            </a:endParaRPr>
          </a:p>
        </p:txBody>
      </p:sp>
      <p:sp>
        <p:nvSpPr>
          <p:cNvPr id="92" name="Google Shape;92;p18"/>
          <p:cNvSpPr txBox="1"/>
          <p:nvPr/>
        </p:nvSpPr>
        <p:spPr>
          <a:xfrm>
            <a:off x="375600" y="1278496"/>
            <a:ext cx="8520600" cy="319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5278" marL="457200" rtl="0" algn="l">
              <a:lnSpc>
                <a:spcPct val="150000"/>
              </a:lnSpc>
              <a:spcBef>
                <a:spcPts val="400"/>
              </a:spcBef>
              <a:spcAft>
                <a:spcPts val="300"/>
              </a:spcAft>
              <a:buClr>
                <a:srgbClr val="7D45E0"/>
              </a:buClr>
              <a:buSzPts val="1365"/>
              <a:buFont typeface="Manrope SemiBold"/>
              <a:buChar char="●"/>
              <a:defRPr sz="1100" b="1">
                <a:solidFill>
                  <a:srgbClr val="0F172A"/>
                </a:solidFill>
                <a:latin typeface="Manrope ExtraBold"/>
              </a:defRPr>
            </a:pPr>
            <a:r>
              <a:t>What is the complete workflow from JD input to ranked candidate output?</a:t>
            </a:r>
            <a:endParaRPr sz="1365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  <a:p>
            <a:pPr>
              <a:spcBef>
                <a:spcPts val="0"/>
              </a:spcBef>
              <a:spcAft>
                <a:spcPts val="300"/>
              </a:spcAft>
              <a:defRPr sz="950" b="0">
                <a:solidFill>
                  <a:srgbClr val="475569"/>
                </a:solidFill>
                <a:latin typeface="Manrope SemiBold"/>
              </a:defRPr>
            </a:pPr>
            <a:r>
              <a:t>1. Input Configuration: Parses target JD parameters and opens the gzip/jsonl candidate pool stream.</a:t>
            </a:r>
          </a:p>
          <a:p>
            <a:pPr>
              <a:spcBef>
                <a:spcPts val="0"/>
              </a:spcBef>
              <a:spcAft>
                <a:spcPts val="300"/>
              </a:spcAft>
              <a:defRPr sz="950" b="0">
                <a:solidFill>
                  <a:srgbClr val="475569"/>
                </a:solidFill>
                <a:latin typeface="Manrope SemiBold"/>
              </a:defRPr>
            </a:pPr>
            <a:r>
              <a:t>2. Integrity Check (Layer 1): Analyzes candidates and instantly rejects those flagged by honeypot checks.</a:t>
            </a:r>
          </a:p>
          <a:p>
            <a:pPr>
              <a:spcBef>
                <a:spcPts val="0"/>
              </a:spcBef>
              <a:spcAft>
                <a:spcPts val="300"/>
              </a:spcAft>
              <a:defRPr sz="950" b="0">
                <a:solidFill>
                  <a:srgbClr val="475569"/>
                </a:solidFill>
                <a:latin typeface="Manrope SemiBold"/>
              </a:defRPr>
            </a:pPr>
            <a:r>
              <a:t>3. Parallel Feature Scoring (Layer 2): Batches candidate profiles and processes them in parallel across CPU cores.</a:t>
            </a:r>
          </a:p>
          <a:p>
            <a:pPr>
              <a:spcBef>
                <a:spcPts val="0"/>
              </a:spcBef>
              <a:spcAft>
                <a:spcPts val="300"/>
              </a:spcAft>
              <a:defRPr sz="950" b="0">
                <a:solidFill>
                  <a:srgbClr val="475569"/>
                </a:solidFill>
                <a:latin typeface="Manrope SemiBold"/>
              </a:defRPr>
            </a:pPr>
            <a:r>
              <a:t>4. Heap-based Collector: Dynamically updates the top 100 shortlist, maintaining O(N log K) sorting efficiency.</a:t>
            </a:r>
          </a:p>
          <a:p>
            <a:pPr>
              <a:spcBef>
                <a:spcPts val="0"/>
              </a:spcBef>
              <a:spcAft>
                <a:spcPts val="300"/>
              </a:spcAft>
              <a:defRPr sz="950" b="0">
                <a:solidFill>
                  <a:srgbClr val="475569"/>
                </a:solidFill>
                <a:latin typeface="Manrope SemiBold"/>
              </a:defRPr>
            </a:pPr>
            <a:r>
              <a:t>5. Outputs Generation: Generates factual justifications, exports validated submission.csv, and compiles landscape A4 PDF report.</a:t>
            </a:r>
          </a:p>
          <a:p>
            <a:pPr>
              <a:spcBef>
                <a:spcPts val="0"/>
              </a:spcBef>
              <a:spcAft>
                <a:spcPts val="300"/>
              </a:spcAft>
              <a:defRPr sz="950" b="0">
                <a:solidFill>
                  <a:srgbClr val="475569"/>
                </a:solidFill>
                <a:latin typeface="Manrope SemiBold"/>
              </a:defRPr>
            </a:pPr>
            <a:r>
              <a:t>6. Recruiter Interface Sandbox: Serves an interactive React glassmorphic recruiter console locally using Python Flask.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" name="Google Shape;97;p19" title="overlay redrob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9"/>
          <p:cNvSpPr txBox="1"/>
          <p:nvPr/>
        </p:nvSpPr>
        <p:spPr>
          <a:xfrm>
            <a:off x="480500" y="812600"/>
            <a:ext cx="8121600" cy="4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935"/>
              <a:buNone/>
            </a:pPr>
            <a:r>
              <a:rPr lang="en-GB">
                <a:solidFill>
                  <a:srgbClr val="202729"/>
                </a:solidFill>
                <a:latin typeface="Manrope ExtraBold"/>
                <a:ea typeface="Manrope ExtraBold"/>
                <a:cs typeface="Manrope ExtraBold"/>
                <a:sym typeface="Manrope ExtraBold"/>
              </a:rPr>
              <a:t>System Architecture</a:t>
            </a:r>
            <a:endParaRPr>
              <a:solidFill>
                <a:srgbClr val="202729"/>
              </a:solidFill>
              <a:latin typeface="Manrope ExtraBold"/>
              <a:ea typeface="Manrope ExtraBold"/>
              <a:cs typeface="Manrope ExtraBold"/>
              <a:sym typeface="Manrope ExtraBold"/>
            </a:endParaRPr>
          </a:p>
        </p:txBody>
      </p:sp>
      <p:sp>
        <p:nvSpPr>
          <p:cNvPr id="99" name="TextBox 98"/>
          <p:cNvSpPr txBox="1"/>
          <p:nvPr/>
        </p:nvSpPr>
        <p:spPr>
          <a:xfrm>
            <a:off x="484632" y="1280160"/>
            <a:ext cx="8229600" cy="34747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Bef>
                <a:spcPts val="400"/>
              </a:spcBef>
              <a:spcAft>
                <a:spcPts val="300"/>
              </a:spcAft>
              <a:defRPr sz="1100" b="1">
                <a:solidFill>
                  <a:srgbClr val="0F172A"/>
                </a:solidFill>
                <a:latin typeface="Manrope ExtraBold"/>
              </a:defRPr>
            </a:pPr>
            <a:r>
              <a:t>Modular System Architecture</a:t>
            </a:r>
          </a:p>
          <a:p>
            <a:pPr>
              <a:spcBef>
                <a:spcPts val="0"/>
              </a:spcBef>
              <a:spcAft>
                <a:spcPts val="300"/>
              </a:spcAft>
              <a:defRPr sz="950" b="0">
                <a:solidFill>
                  <a:srgbClr val="475569"/>
                </a:solidFill>
                <a:latin typeface="Manrope SemiBold"/>
              </a:defRPr>
            </a:pPr>
            <a:r>
              <a:t>• Input Streamer (rank.py): Memory-efficient, low-overhead Gzip/JSONL line-by-line generator reader.</a:t>
            </a:r>
          </a:p>
          <a:p>
            <a:pPr>
              <a:spcBef>
                <a:spcPts val="0"/>
              </a:spcBef>
              <a:spcAft>
                <a:spcPts val="300"/>
              </a:spcAft>
              <a:defRPr sz="950" b="0">
                <a:solidFill>
                  <a:srgbClr val="475569"/>
                </a:solidFill>
                <a:latin typeface="Manrope SemiBold"/>
              </a:defRPr>
            </a:pPr>
            <a:r>
              <a:t>• Integrity Filter (honeypot.py): Deterministic validation layer that short-circuits fraudulent candidate resumes.</a:t>
            </a:r>
          </a:p>
          <a:p>
            <a:pPr>
              <a:spcBef>
                <a:spcPts val="0"/>
              </a:spcBef>
              <a:spcAft>
                <a:spcPts val="300"/>
              </a:spcAft>
              <a:defRPr sz="950" b="0">
                <a:solidFill>
                  <a:srgbClr val="475569"/>
                </a:solidFill>
                <a:latin typeface="Manrope SemiBold"/>
              </a:defRPr>
            </a:pPr>
            <a:r>
              <a:t>• Evaluation Engine (features.py): Computes normalized match parameters across 5 scoring modules.</a:t>
            </a:r>
          </a:p>
          <a:p>
            <a:pPr>
              <a:spcBef>
                <a:spcPts val="0"/>
              </a:spcBef>
              <a:spcAft>
                <a:spcPts val="300"/>
              </a:spcAft>
              <a:defRPr sz="950" b="0">
                <a:solidFill>
                  <a:srgbClr val="475569"/>
                </a:solidFill>
                <a:latin typeface="Manrope SemiBold"/>
              </a:defRPr>
            </a:pPr>
            <a:r>
              <a:t>• Scaling Module (scorer.py): Adjusts match scores by platform engagement, notice periods, and assessments.</a:t>
            </a:r>
          </a:p>
          <a:p>
            <a:pPr>
              <a:spcBef>
                <a:spcPts val="0"/>
              </a:spcBef>
              <a:spcAft>
                <a:spcPts val="300"/>
              </a:spcAft>
              <a:defRPr sz="950" b="0">
                <a:solidFill>
                  <a:srgbClr val="475569"/>
                </a:solidFill>
                <a:latin typeface="Manrope SemiBold"/>
              </a:defRPr>
            </a:pPr>
            <a:r>
              <a:t>• Explanation Engine (reasoning.py): Dynamically compiles factual justifications based on candidate details.</a:t>
            </a:r>
          </a:p>
          <a:p>
            <a:pPr>
              <a:spcBef>
                <a:spcPts val="0"/>
              </a:spcBef>
              <a:spcAft>
                <a:spcPts val="300"/>
              </a:spcAft>
              <a:defRPr sz="950" b="0">
                <a:solidFill>
                  <a:srgbClr val="475569"/>
                </a:solidFill>
                <a:latin typeface="Manrope SemiBold"/>
              </a:defRPr>
            </a:pPr>
            <a:r>
              <a:t>• Recruiter Sandbox UI (server.py + index.html): Lightweight local Flask API serving responsive React recruiter interface.</a:t>
            </a:r>
          </a:p>
          <a:p>
            <a:pPr>
              <a:spcBef>
                <a:spcPts val="600"/>
              </a:spcBef>
              <a:spcAft>
                <a:spcPts val="300"/>
              </a:spcAft>
              <a:defRPr sz="1100" b="1">
                <a:solidFill>
                  <a:srgbClr val="0F172A"/>
                </a:solidFill>
                <a:latin typeface="Manrope ExtraBold"/>
              </a:defRPr>
            </a:pPr>
            <a:r>
              <a:t>Pipeline Data Flow Diagram</a:t>
            </a:r>
          </a:p>
          <a:p>
            <a:pPr>
              <a:spcBef>
                <a:spcPts val="0"/>
              </a:spcBef>
              <a:spcAft>
                <a:spcPts val="300"/>
              </a:spcAft>
              <a:defRPr sz="900" b="1">
                <a:solidFill>
                  <a:srgbClr val="4F46E5"/>
                </a:solidFill>
                <a:latin typeface="Courier New"/>
              </a:defRPr>
            </a:pPr>
            <a:r>
              <a:t>   [candidates.jsonl] ──&gt; [honeypot.py] ──&gt; [features.py] ──&gt; [scorer.py] ──&gt; [Min-Heap] ──&gt; [submission.csv] ──&gt; [Flask/React Console]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" name="Google Shape;103;p20" title="overlay redrob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20"/>
          <p:cNvSpPr txBox="1"/>
          <p:nvPr/>
        </p:nvSpPr>
        <p:spPr>
          <a:xfrm>
            <a:off x="480500" y="812600"/>
            <a:ext cx="8121600" cy="4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935"/>
              <a:buNone/>
            </a:pPr>
            <a:r>
              <a:rPr lang="en-GB">
                <a:solidFill>
                  <a:srgbClr val="202729"/>
                </a:solidFill>
                <a:latin typeface="Manrope ExtraBold"/>
                <a:ea typeface="Manrope ExtraBold"/>
                <a:cs typeface="Manrope ExtraBold"/>
                <a:sym typeface="Manrope ExtraBold"/>
              </a:rPr>
              <a:t>Results &amp; Performance</a:t>
            </a:r>
            <a:endParaRPr>
              <a:solidFill>
                <a:srgbClr val="202729"/>
              </a:solidFill>
              <a:latin typeface="Manrope ExtraBold"/>
              <a:ea typeface="Manrope ExtraBold"/>
              <a:cs typeface="Manrope ExtraBold"/>
              <a:sym typeface="Manrope ExtraBold"/>
            </a:endParaRPr>
          </a:p>
        </p:txBody>
      </p:sp>
      <p:sp>
        <p:nvSpPr>
          <p:cNvPr id="105" name="Google Shape;105;p20"/>
          <p:cNvSpPr txBox="1"/>
          <p:nvPr/>
        </p:nvSpPr>
        <p:spPr>
          <a:xfrm>
            <a:off x="375600" y="1278496"/>
            <a:ext cx="8520600" cy="319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5278" marL="457200" rtl="0" algn="l">
              <a:lnSpc>
                <a:spcPct val="150000"/>
              </a:lnSpc>
              <a:spcBef>
                <a:spcPts val="400"/>
              </a:spcBef>
              <a:spcAft>
                <a:spcPts val="300"/>
              </a:spcAft>
              <a:buClr>
                <a:srgbClr val="7D45E0"/>
              </a:buClr>
              <a:buSzPts val="1365"/>
              <a:buFont typeface="Manrope SemiBold"/>
              <a:buChar char="●"/>
              <a:defRPr sz="1100" b="1">
                <a:solidFill>
                  <a:srgbClr val="0F172A"/>
                </a:solidFill>
                <a:latin typeface="Manrope ExtraBold"/>
              </a:defRPr>
            </a:pPr>
            <a:r>
              <a:t>What results or insights demonstrate ranking quality?</a:t>
            </a:r>
            <a:endParaRPr sz="1365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  <a:p>
            <a:pPr>
              <a:spcBef>
                <a:spcPts val="0"/>
              </a:spcBef>
              <a:spcAft>
                <a:spcPts val="300"/>
              </a:spcAft>
              <a:defRPr sz="950" b="0">
                <a:solidFill>
                  <a:srgbClr val="475569"/>
                </a:solidFill>
                <a:latin typeface="Manrope SemiBold"/>
              </a:defRPr>
            </a:pPr>
            <a:r>
              <a:t>• Shortlist Precision: 0% honeypot presence in top 100 (all 45 honeypot profiles correctly discarded).</a:t>
            </a:r>
          </a:p>
          <a:p>
            <a:pPr>
              <a:spcBef>
                <a:spcPts val="0"/>
              </a:spcBef>
              <a:spcAft>
                <a:spcPts val="300"/>
              </a:spcAft>
              <a:defRPr sz="950" b="0">
                <a:solidFill>
                  <a:srgbClr val="475569"/>
                </a:solidFill>
                <a:latin typeface="Manrope SemiBold"/>
              </a:defRPr>
            </a:pPr>
            <a:r>
              <a:t>• High Relevance: Top 10 shortlisted candidates are high-quality ML/NLP/Search Engineers with verified vector search experience.</a:t>
            </a:r>
          </a:p>
          <a:p>
            <a:pPr>
              <a:spcBef>
                <a:spcPts val="0"/>
              </a:spcBef>
              <a:spcAft>
                <a:spcPts val="300"/>
              </a:spcAft>
              <a:defRPr sz="950" b="0">
                <a:solidFill>
                  <a:srgbClr val="475569"/>
                </a:solidFill>
                <a:latin typeface="Manrope SemiBold"/>
              </a:defRPr>
            </a:pPr>
            <a:r>
              <a:t>• Validator Verification: The output submission.csv successfully passed all validation checks.</a:t>
            </a:r>
          </a:p>
          <a:p>
            <a:pPr>
              <a:spcBef>
                <a:spcPts val="600"/>
              </a:spcBef>
              <a:spcAft>
                <a:spcPts val="300"/>
              </a:spcAft>
              <a:defRPr sz="1100" b="1">
                <a:solidFill>
                  <a:srgbClr val="0F172A"/>
                </a:solidFill>
                <a:latin typeface="Manrope ExtraBold"/>
              </a:defRPr>
            </a:pPr>
            <a:r>
              <a:t>How does your solution meet the challenge's runtime and compute constraints?</a:t>
            </a:r>
          </a:p>
          <a:p>
            <a:pPr>
              <a:spcBef>
                <a:spcPts val="0"/>
              </a:spcBef>
              <a:spcAft>
                <a:spcPts val="300"/>
              </a:spcAft>
              <a:defRPr sz="950" b="0">
                <a:solidFill>
                  <a:srgbClr val="475569"/>
                </a:solidFill>
                <a:latin typeface="Manrope SemiBold"/>
              </a:defRPr>
            </a:pPr>
            <a:r>
              <a:t>• Execution Speed: processes 100,000 candidate profiles in 35.5 seconds (Constraint: &lt; 5 minutes).</a:t>
            </a:r>
          </a:p>
          <a:p>
            <a:pPr>
              <a:spcBef>
                <a:spcPts val="0"/>
              </a:spcBef>
              <a:spcAft>
                <a:spcPts val="300"/>
              </a:spcAft>
              <a:defRPr sz="950" b="0">
                <a:solidFill>
                  <a:srgbClr val="475569"/>
                </a:solidFill>
                <a:latin typeface="Manrope SemiBold"/>
              </a:defRPr>
            </a:pPr>
            <a:r>
              <a:t>• RAM footprint: Under 50 MB peak memory due to stream-oriented processing (Constraint: &lt;= 16 GB).</a:t>
            </a:r>
          </a:p>
          <a:p>
            <a:pPr>
              <a:spcBef>
                <a:spcPts val="0"/>
              </a:spcBef>
              <a:spcAft>
                <a:spcPts val="300"/>
              </a:spcAft>
              <a:defRPr sz="950" b="0">
                <a:solidFill>
                  <a:srgbClr val="475569"/>
                </a:solidFill>
                <a:latin typeface="Manrope SemiBold"/>
              </a:defRPr>
            </a:pPr>
            <a:r>
              <a:t>• 100% Offline: Operates entirely locally with zero API, token costs or remote dependencies.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21" title="overlay redrob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21"/>
          <p:cNvSpPr txBox="1"/>
          <p:nvPr/>
        </p:nvSpPr>
        <p:spPr>
          <a:xfrm>
            <a:off x="480500" y="812600"/>
            <a:ext cx="8121600" cy="4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935"/>
              <a:buNone/>
            </a:pPr>
            <a:r>
              <a:rPr lang="en-GB">
                <a:solidFill>
                  <a:srgbClr val="202729"/>
                </a:solidFill>
                <a:latin typeface="Manrope ExtraBold"/>
                <a:ea typeface="Manrope ExtraBold"/>
                <a:cs typeface="Manrope ExtraBold"/>
                <a:sym typeface="Manrope ExtraBold"/>
              </a:rPr>
              <a:t>Technologies Used</a:t>
            </a:r>
            <a:endParaRPr>
              <a:solidFill>
                <a:srgbClr val="202729"/>
              </a:solidFill>
              <a:latin typeface="Manrope ExtraBold"/>
              <a:ea typeface="Manrope ExtraBold"/>
              <a:cs typeface="Manrope ExtraBold"/>
              <a:sym typeface="Manrope ExtraBold"/>
            </a:endParaRPr>
          </a:p>
        </p:txBody>
      </p:sp>
      <p:sp>
        <p:nvSpPr>
          <p:cNvPr id="112" name="Google Shape;112;p21"/>
          <p:cNvSpPr txBox="1"/>
          <p:nvPr/>
        </p:nvSpPr>
        <p:spPr>
          <a:xfrm>
            <a:off x="375600" y="1278496"/>
            <a:ext cx="8520600" cy="319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5278" marL="457200" rtl="0" algn="l">
              <a:lnSpc>
                <a:spcPct val="150000"/>
              </a:lnSpc>
              <a:spcBef>
                <a:spcPts val="400"/>
              </a:spcBef>
              <a:spcAft>
                <a:spcPts val="300"/>
              </a:spcAft>
              <a:buClr>
                <a:srgbClr val="7D45E0"/>
              </a:buClr>
              <a:buSzPts val="1365"/>
              <a:buFont typeface="Manrope SemiBold"/>
              <a:buChar char="●"/>
              <a:defRPr sz="1100" b="1">
                <a:solidFill>
                  <a:srgbClr val="0F172A"/>
                </a:solidFill>
                <a:latin typeface="Manrope ExtraBold"/>
              </a:defRPr>
            </a:pPr>
            <a:r>
              <a:t>What technologies, frameworks, and tools were used and why?</a:t>
            </a:r>
            <a:endParaRPr sz="1365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  <a:p>
            <a:pPr>
              <a:spcBef>
                <a:spcPts val="0"/>
              </a:spcBef>
              <a:spcAft>
                <a:spcPts val="300"/>
              </a:spcAft>
              <a:defRPr sz="950" b="0">
                <a:solidFill>
                  <a:srgbClr val="475569"/>
                </a:solidFill>
                <a:latin typeface="Manrope SemiBold"/>
              </a:defRPr>
            </a:pPr>
            <a:r>
              <a:t>• Python 3.10+: Selected for cross-platform portability, ease of deployment, and high-performance text scanning.</a:t>
            </a:r>
          </a:p>
          <a:p>
            <a:pPr>
              <a:spcBef>
                <a:spcPts val="0"/>
              </a:spcBef>
              <a:spcAft>
                <a:spcPts val="300"/>
              </a:spcAft>
              <a:defRPr sz="950" b="0">
                <a:solidFill>
                  <a:srgbClr val="475569"/>
                </a:solidFill>
                <a:latin typeface="Manrope SemiBold"/>
              </a:defRPr>
            </a:pPr>
            <a:r>
              <a:t>• re (RegEx): Used precompiled regular expressions for microsecond-level term searches in candidate descriptions.</a:t>
            </a:r>
          </a:p>
          <a:p>
            <a:pPr>
              <a:spcBef>
                <a:spcPts val="0"/>
              </a:spcBef>
              <a:spcAft>
                <a:spcPts val="300"/>
              </a:spcAft>
              <a:defRPr sz="950" b="0">
                <a:solidFill>
                  <a:srgbClr val="475569"/>
                </a:solidFill>
                <a:latin typeface="Manrope SemiBold"/>
              </a:defRPr>
            </a:pPr>
            <a:r>
              <a:t>• multiprocessing: Distributes evaluation across CPU cores to slash runtime from minutes to seconds.</a:t>
            </a:r>
          </a:p>
          <a:p>
            <a:pPr>
              <a:spcBef>
                <a:spcPts val="0"/>
              </a:spcBef>
              <a:spcAft>
                <a:spcPts val="300"/>
              </a:spcAft>
              <a:defRPr sz="950" b="0">
                <a:solidFill>
                  <a:srgbClr val="475569"/>
                </a:solidFill>
                <a:latin typeface="Manrope SemiBold"/>
              </a:defRPr>
            </a:pPr>
            <a:r>
              <a:t>• python-dateutil: Handles date parsing and tenure intervals correctly without fragile manual date algebra.</a:t>
            </a:r>
          </a:p>
          <a:p>
            <a:pPr>
              <a:spcBef>
                <a:spcPts val="0"/>
              </a:spcBef>
              <a:spcAft>
                <a:spcPts val="300"/>
              </a:spcAft>
              <a:defRPr sz="950" b="0">
                <a:solidFill>
                  <a:srgbClr val="475569"/>
                </a:solidFill>
                <a:latin typeface="Manrope SemiBold"/>
              </a:defRPr>
            </a:pPr>
            <a:r>
              <a:t>• Flask: Lightweight micro-framework for serving the recruiter console UI and endpoint locally with zero setup.</a:t>
            </a:r>
          </a:p>
          <a:p>
            <a:pPr>
              <a:spcBef>
                <a:spcPts val="0"/>
              </a:spcBef>
              <a:spcAft>
                <a:spcPts val="300"/>
              </a:spcAft>
              <a:defRPr sz="950" b="0">
                <a:solidFill>
                  <a:srgbClr val="475569"/>
                </a:solidFill>
                <a:latin typeface="Manrope SemiBold"/>
              </a:defRPr>
            </a:pPr>
            <a:r>
              <a:t>• React &amp; Tailwind CSS: CDN-decoupled single page frontend to build a modern recruiter UI sandbox without npm builds.</a:t>
            </a:r>
          </a:p>
          <a:p>
            <a:pPr>
              <a:spcBef>
                <a:spcPts val="0"/>
              </a:spcBef>
              <a:spcAft>
                <a:spcPts val="300"/>
              </a:spcAft>
              <a:defRPr sz="950" b="0">
                <a:solidFill>
                  <a:srgbClr val="475569"/>
                </a:solidFill>
                <a:latin typeface="Manrope SemiBold"/>
              </a:defRPr>
            </a:pPr>
            <a:r>
              <a:t>• jsPDF &amp; AutoTable: Compiles high-fidelity landscape A4 PDF shortlist summary reports directly in the browser.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7" name="Google Shape;117;p22" title="overlay redrob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3997" cy="5143490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22"/>
          <p:cNvSpPr txBox="1"/>
          <p:nvPr/>
        </p:nvSpPr>
        <p:spPr>
          <a:xfrm>
            <a:off x="480500" y="812600"/>
            <a:ext cx="8121600" cy="4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935"/>
              <a:buNone/>
            </a:pPr>
            <a:r>
              <a:rPr lang="en-GB">
                <a:solidFill>
                  <a:srgbClr val="202729"/>
                </a:solidFill>
                <a:latin typeface="Manrope ExtraBold"/>
                <a:ea typeface="Manrope ExtraBold"/>
                <a:cs typeface="Manrope ExtraBold"/>
                <a:sym typeface="Manrope ExtraBold"/>
              </a:rPr>
              <a:t>Submission Assets</a:t>
            </a:r>
            <a:endParaRPr>
              <a:solidFill>
                <a:srgbClr val="202729"/>
              </a:solidFill>
              <a:latin typeface="Manrope ExtraBold"/>
              <a:ea typeface="Manrope ExtraBold"/>
              <a:cs typeface="Manrope ExtraBold"/>
              <a:sym typeface="Manrope ExtraBold"/>
            </a:endParaRPr>
          </a:p>
        </p:txBody>
      </p:sp>
      <p:sp>
        <p:nvSpPr>
          <p:cNvPr id="119" name="Google Shape;119;p22"/>
          <p:cNvSpPr txBox="1"/>
          <p:nvPr/>
        </p:nvSpPr>
        <p:spPr>
          <a:xfrm>
            <a:off x="480500" y="1278500"/>
            <a:ext cx="7968600" cy="319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marL="0" rtl="0" algn="l">
              <a:lnSpc>
                <a:spcPct val="150000"/>
              </a:lnSpc>
              <a:spcBef>
                <a:spcPts val="400"/>
              </a:spcBef>
              <a:spcAft>
                <a:spcPts val="300"/>
              </a:spcAft>
              <a:buNone/>
              <a:defRPr sz="1100" b="1">
                <a:solidFill>
                  <a:srgbClr val="0F172A"/>
                </a:solidFill>
                <a:latin typeface="Manrope ExtraBold"/>
              </a:defRPr>
            </a:pPr>
            <a:r>
              <a:t>GitHub Codebase Repository</a:t>
            </a:r>
            <a:endParaRPr sz="1365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  <a:p>
            <a:pPr>
              <a:spcBef>
                <a:spcPts val="0"/>
              </a:spcBef>
              <a:spcAft>
                <a:spcPts val="300"/>
              </a:spcAft>
              <a:defRPr sz="950" b="0">
                <a:solidFill>
                  <a:srgbClr val="475569"/>
                </a:solidFill>
                <a:latin typeface="Manrope SemiBold"/>
              </a:defRPr>
            </a:pPr>
            <a:r>
              <a:t>• Repository URL: https://github.com/IqraKhanZ/candidate-ranker</a:t>
            </a:r>
          </a:p>
          <a:p>
            <a:pPr>
              <a:spcBef>
                <a:spcPts val="600"/>
              </a:spcBef>
              <a:spcAft>
                <a:spcPts val="300"/>
              </a:spcAft>
              <a:defRPr sz="1100" b="1">
                <a:solidFill>
                  <a:srgbClr val="0F172A"/>
                </a:solidFill>
                <a:latin typeface="Manrope ExtraBold"/>
              </a:defRPr>
            </a:pPr>
            <a:r>
              <a:t>Recruiter Sandbox Deployments</a:t>
            </a:r>
          </a:p>
          <a:p>
            <a:pPr>
              <a:spcBef>
                <a:spcPts val="0"/>
              </a:spcBef>
              <a:spcAft>
                <a:spcPts val="300"/>
              </a:spcAft>
              <a:defRPr sz="950" b="0">
                <a:solidFill>
                  <a:srgbClr val="475569"/>
                </a:solidFill>
                <a:latin typeface="Manrope SemiBold"/>
              </a:defRPr>
            </a:pPr>
            <a:r>
              <a:t>• Live SaaS URL: https://candidate-ranker-production.up.railway.app  [Railway deployment space reserved]</a:t>
            </a:r>
          </a:p>
          <a:p>
            <a:pPr>
              <a:spcBef>
                <a:spcPts val="0"/>
              </a:spcBef>
              <a:spcAft>
                <a:spcPts val="300"/>
              </a:spcAft>
              <a:defRPr sz="950" b="0">
                <a:solidFill>
                  <a:srgbClr val="475569"/>
                </a:solidFill>
                <a:latin typeface="Manrope SemiBold"/>
              </a:defRPr>
            </a:pPr>
            <a:r>
              <a:t>• Local Sandbox Console: http://localhost:5000/  [Served via server.py]</a:t>
            </a:r>
          </a:p>
          <a:p>
            <a:pPr>
              <a:spcBef>
                <a:spcPts val="600"/>
              </a:spcBef>
              <a:spcAft>
                <a:spcPts val="300"/>
              </a:spcAft>
              <a:defRPr sz="1100" b="1">
                <a:solidFill>
                  <a:srgbClr val="0F172A"/>
                </a:solidFill>
                <a:latin typeface="Manrope ExtraBold"/>
              </a:defRPr>
            </a:pPr>
            <a:r>
              <a:t>Key Deliverables</a:t>
            </a:r>
          </a:p>
          <a:p>
            <a:pPr>
              <a:spcBef>
                <a:spcPts val="0"/>
              </a:spcBef>
              <a:spcAft>
                <a:spcPts val="300"/>
              </a:spcAft>
              <a:defRPr sz="950" b="0">
                <a:solidFill>
                  <a:srgbClr val="475569"/>
                </a:solidFill>
                <a:latin typeface="Manrope SemiBold"/>
              </a:defRPr>
            </a:pPr>
            <a:r>
              <a:t>• Output CSV: submission.csv (Verified top 100 shortlist matching schema constraints)</a:t>
            </a:r>
          </a:p>
          <a:p>
            <a:pPr>
              <a:spcBef>
                <a:spcPts val="0"/>
              </a:spcBef>
              <a:spcAft>
                <a:spcPts val="300"/>
              </a:spcAft>
              <a:defRPr sz="950" b="0">
                <a:solidFill>
                  <a:srgbClr val="475569"/>
                </a:solidFill>
                <a:latin typeface="Manrope SemiBold"/>
              </a:defRPr>
            </a:pPr>
            <a:r>
              <a:t>• PDF Summary Report: Auto-generated, recruiter-friendly A4 landscape candidate overview</a:t>
            </a:r>
          </a:p>
          <a:p>
            <a:pPr>
              <a:spcBef>
                <a:spcPts val="0"/>
              </a:spcBef>
              <a:spcAft>
                <a:spcPts val="300"/>
              </a:spcAft>
              <a:defRPr sz="950" b="0">
                <a:solidFill>
                  <a:srgbClr val="475569"/>
                </a:solidFill>
                <a:latin typeface="Manrope SemiBold"/>
              </a:defRPr>
            </a:pPr>
            <a:r>
              <a:t>• Walkthrough Video: [Insert Loom / YouTube Demo Link]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" name="Google Shape;124;p23" title="thank you slide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